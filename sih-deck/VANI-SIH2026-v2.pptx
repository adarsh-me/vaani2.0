
<file path=[Content_Types].xml><?xml version="1.0" encoding="utf-8"?>
<Types xmlns="http://schemas.openxmlformats.org/package/2006/content-types"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11"/>
    <p:sldId id="259" r:id="rId5"/>
    <p:sldId id="264" r:id="rId10"/>
    <p:sldId id="262" r:id="rId8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A9ABA5C-0B02-42C3-B59F-D3912CC8DF66}"/>
              </a:ext>
            </a:extLst>
          </p:cNvPr>
          <p:cNvSpPr/>
          <p:nvPr/>
        </p:nvSpPr>
        <p:spPr>
          <a:xfrm>
            <a:off x="6438900" y="0"/>
            <a:ext cx="5753100" cy="6858000"/>
          </a:xfrm>
          <a:prstGeom prst="rect">
            <a:avLst/>
          </a:prstGeom>
          <a:solidFill>
            <a:srgbClr val="0E21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18CA90-A741-4618-B623-15E2F1DDE542}"/>
              </a:ext>
            </a:extLst>
          </p:cNvPr>
          <p:cNvSpPr txBox="1"/>
          <p:nvPr/>
        </p:nvSpPr>
        <p:spPr>
          <a:xfrm>
            <a:off x="685800" y="533400"/>
            <a:ext cx="4381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8A317"/>
                </a:solidFill>
                <a:latin typeface="Inter"/>
                <a:ea typeface="Inter"/>
              </a:rPr>
              <a:t>SMART INDIA HACKATHON 2026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5CD5856-7B9F-4C7F-B969-D85970EDFDFD}"/>
              </a:ext>
            </a:extLst>
          </p:cNvPr>
          <p:cNvSpPr txBox="1"/>
          <p:nvPr/>
        </p:nvSpPr>
        <p:spPr>
          <a:xfrm>
            <a:off x="685800" y="800100"/>
            <a:ext cx="4381500" cy="1447800"/>
          </a:xfrm>
        </p:spPr>
        <p:txBody>
          <a:bodyPr wrap="square" rtlCol="0" lIns="0" tIns="0" rIns="0" bIns="0" anchor="t"/>
          <a:lstStyle/>
          <a:p>
            <a:pPr algn="l"/>
            <a:r>
              <a:rPr sz="8800" b="1">
                <a:solidFill>
                  <a:srgbClr val="FFFFFF"/>
                </a:solidFill>
                <a:latin typeface="Inter"/>
                <a:ea typeface="Inter"/>
              </a:rPr>
              <a:t>VANI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A66E80-A500-4F20-A171-2D5A4FDD662F}"/>
              </a:ext>
            </a:extLst>
          </p:cNvPr>
          <p:cNvSpPr txBox="1"/>
          <p:nvPr/>
        </p:nvSpPr>
        <p:spPr>
          <a:xfrm>
            <a:off x="685800" y="2400300"/>
            <a:ext cx="4953000" cy="117271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AEC0D2"/>
                </a:solidFill>
                <a:latin typeface="Inter"/>
                <a:ea typeface="Inter"/>
              </a:rPr>
              <a:t>Speak in one Indian language. The other phone hears it in hers. No network, no cloud, nothing leaves the device.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2F252C4-29AF-427D-8728-F072B4726E88}"/>
              </a:ext>
            </a:extLst>
          </p:cNvPr>
          <p:cNvSpPr/>
          <p:nvPr/>
        </p:nvSpPr>
        <p:spPr>
          <a:xfrm>
            <a:off x="685800" y="4210050"/>
            <a:ext cx="209550" cy="3429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848C983-A5D3-4A2E-AFD1-9E2FC3A20A65}"/>
              </a:ext>
            </a:extLst>
          </p:cNvPr>
          <p:cNvSpPr/>
          <p:nvPr/>
        </p:nvSpPr>
        <p:spPr>
          <a:xfrm>
            <a:off x="1009650" y="4076700"/>
            <a:ext cx="209550" cy="6096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BF8428F-6D29-446E-91C4-C2F80EA178EF}"/>
              </a:ext>
            </a:extLst>
          </p:cNvPr>
          <p:cNvSpPr/>
          <p:nvPr/>
        </p:nvSpPr>
        <p:spPr>
          <a:xfrm>
            <a:off x="1333500" y="3886200"/>
            <a:ext cx="209550" cy="9906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AC78D94-0554-4955-936F-98A118785263}"/>
              </a:ext>
            </a:extLst>
          </p:cNvPr>
          <p:cNvSpPr/>
          <p:nvPr/>
        </p:nvSpPr>
        <p:spPr>
          <a:xfrm>
            <a:off x="1657350" y="4152900"/>
            <a:ext cx="209550" cy="4572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7BBB21C-1B31-4C8A-A024-40F3A70C12EB}"/>
              </a:ext>
            </a:extLst>
          </p:cNvPr>
          <p:cNvSpPr/>
          <p:nvPr/>
        </p:nvSpPr>
        <p:spPr>
          <a:xfrm>
            <a:off x="1981200" y="3752850"/>
            <a:ext cx="209550" cy="1257300"/>
          </a:xfrm>
          <a:prstGeom prst="rect">
            <a:avLst/>
          </a:prstGeom>
          <a:solidFill>
            <a:srgbClr val="2C74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2CE9571-5624-4CBF-93F1-92160E935602}"/>
              </a:ext>
            </a:extLst>
          </p:cNvPr>
          <p:cNvSpPr/>
          <p:nvPr/>
        </p:nvSpPr>
        <p:spPr>
          <a:xfrm>
            <a:off x="2305050" y="4000500"/>
            <a:ext cx="209550" cy="7620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572FB61-21D0-4392-A6F2-0B25668C6A13}"/>
              </a:ext>
            </a:extLst>
          </p:cNvPr>
          <p:cNvSpPr/>
          <p:nvPr/>
        </p:nvSpPr>
        <p:spPr>
          <a:xfrm>
            <a:off x="2628900" y="3676650"/>
            <a:ext cx="209550" cy="1409700"/>
          </a:xfrm>
          <a:prstGeom prst="rect">
            <a:avLst/>
          </a:prstGeom>
          <a:solidFill>
            <a:srgbClr val="E8A3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9D29BA2-314E-458C-9F70-E4D1707091C4}"/>
              </a:ext>
            </a:extLst>
          </p:cNvPr>
          <p:cNvSpPr/>
          <p:nvPr/>
        </p:nvSpPr>
        <p:spPr>
          <a:xfrm>
            <a:off x="2952750" y="3924300"/>
            <a:ext cx="209550" cy="9144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9DA6B8D-6172-4669-89B8-7C134DE36A55}"/>
              </a:ext>
            </a:extLst>
          </p:cNvPr>
          <p:cNvSpPr/>
          <p:nvPr/>
        </p:nvSpPr>
        <p:spPr>
          <a:xfrm>
            <a:off x="3276600" y="4095750"/>
            <a:ext cx="209550" cy="5715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4C7EF6D-405E-481B-8313-7D38F28A8939}"/>
              </a:ext>
            </a:extLst>
          </p:cNvPr>
          <p:cNvSpPr/>
          <p:nvPr/>
        </p:nvSpPr>
        <p:spPr>
          <a:xfrm>
            <a:off x="3600450" y="3810000"/>
            <a:ext cx="209550" cy="1143000"/>
          </a:xfrm>
          <a:prstGeom prst="rect">
            <a:avLst/>
          </a:prstGeom>
          <a:solidFill>
            <a:srgbClr val="2C74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987E91F-1792-4536-BA32-9B3D33CE5475}"/>
              </a:ext>
            </a:extLst>
          </p:cNvPr>
          <p:cNvSpPr/>
          <p:nvPr/>
        </p:nvSpPr>
        <p:spPr>
          <a:xfrm>
            <a:off x="3924300" y="4038600"/>
            <a:ext cx="209550" cy="6858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E7E7BD8-06B4-4E31-827D-9D127670BDED}"/>
              </a:ext>
            </a:extLst>
          </p:cNvPr>
          <p:cNvSpPr/>
          <p:nvPr/>
        </p:nvSpPr>
        <p:spPr>
          <a:xfrm>
            <a:off x="4248150" y="3714750"/>
            <a:ext cx="209550" cy="1333500"/>
          </a:xfrm>
          <a:prstGeom prst="rect">
            <a:avLst/>
          </a:prstGeom>
          <a:solidFill>
            <a:srgbClr val="E8A3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9C019CF-48F7-445B-A7A2-40BB43598B70}"/>
              </a:ext>
            </a:extLst>
          </p:cNvPr>
          <p:cNvSpPr/>
          <p:nvPr/>
        </p:nvSpPr>
        <p:spPr>
          <a:xfrm>
            <a:off x="4572000" y="4095750"/>
            <a:ext cx="209550" cy="5715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0AE3F56-9D3D-464E-98DF-D672744FC202}"/>
              </a:ext>
            </a:extLst>
          </p:cNvPr>
          <p:cNvSpPr/>
          <p:nvPr/>
        </p:nvSpPr>
        <p:spPr>
          <a:xfrm>
            <a:off x="4895850" y="3943350"/>
            <a:ext cx="209550" cy="8763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397DA18-5318-480F-AD02-DF347970978D}"/>
              </a:ext>
            </a:extLst>
          </p:cNvPr>
          <p:cNvSpPr/>
          <p:nvPr/>
        </p:nvSpPr>
        <p:spPr>
          <a:xfrm>
            <a:off x="685800" y="5219700"/>
            <a:ext cx="1866900" cy="342900"/>
          </a:xfrm>
          <a:prstGeom prst="roundRect">
            <a:avLst/>
          </a:prstGeom>
          <a:solidFill>
            <a:srgbClr val="143050"/>
          </a:solidFill>
          <a:ln w="12700">
            <a:solidFill>
              <a:srgbClr val="2A53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DCE7F4"/>
                </a:solidFill>
                <a:latin typeface="Inter"/>
                <a:ea typeface="Inter"/>
              </a:rPr>
              <a:t>10 Indic languages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6556527-14C5-4EBF-9F40-30205EB56433}"/>
              </a:ext>
            </a:extLst>
          </p:cNvPr>
          <p:cNvSpPr/>
          <p:nvPr/>
        </p:nvSpPr>
        <p:spPr>
          <a:xfrm>
            <a:off x="2667000" y="5219700"/>
            <a:ext cx="1638300" cy="342900"/>
          </a:xfrm>
          <a:prstGeom prst="roundRect">
            <a:avLst/>
          </a:prstGeom>
          <a:solidFill>
            <a:srgbClr val="143050"/>
          </a:solidFill>
          <a:ln w="12700">
            <a:solidFill>
              <a:srgbClr val="2A53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DCE7F4"/>
                </a:solidFill>
                <a:latin typeface="Inter"/>
                <a:ea typeface="Inter"/>
              </a:rPr>
              <a:t>Zero cloud calls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DAFFC3E-9D20-4DB2-8319-9C07E4878F32}"/>
              </a:ext>
            </a:extLst>
          </p:cNvPr>
          <p:cNvSpPr/>
          <p:nvPr/>
        </p:nvSpPr>
        <p:spPr>
          <a:xfrm>
            <a:off x="4419600" y="5219700"/>
            <a:ext cx="1600200" cy="342900"/>
          </a:xfrm>
          <a:prstGeom prst="roundRect">
            <a:avLst/>
          </a:prstGeom>
          <a:solidFill>
            <a:srgbClr val="143050"/>
          </a:solidFill>
          <a:ln w="12700">
            <a:solidFill>
              <a:srgbClr val="2A53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DCE7F4"/>
                </a:solidFill>
                <a:latin typeface="Inter"/>
                <a:ea typeface="Inter"/>
              </a:rPr>
              <a:t>Text-only link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A20BE632-DE33-4250-B92C-D4BA07E1B25B}"/>
              </a:ext>
            </a:extLst>
          </p:cNvPr>
          <p:cNvSpPr/>
          <p:nvPr/>
        </p:nvSpPr>
        <p:spPr>
          <a:xfrm>
            <a:off x="6781800" y="800100"/>
            <a:ext cx="4724400" cy="5029200"/>
          </a:xfrm>
          <a:prstGeom prst="roundRect">
            <a:avLst/>
          </a:prstGeom>
          <a:solidFill>
            <a:srgbClr val="102640"/>
          </a:solidFill>
          <a:ln w="12700">
            <a:solidFill>
              <a:srgbClr val="2A4A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001BCA7-A69D-41AB-B387-F8D3092F16D1}"/>
              </a:ext>
            </a:extLst>
          </p:cNvPr>
          <p:cNvSpPr txBox="1"/>
          <p:nvPr/>
        </p:nvSpPr>
        <p:spPr>
          <a:xfrm>
            <a:off x="7086600" y="1047750"/>
            <a:ext cx="4114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8A317"/>
                </a:solidFill>
                <a:latin typeface="Inter"/>
                <a:ea typeface="Inter"/>
              </a:rPr>
              <a:t>PROBLEM STATEMENT ID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575D7EF-3174-4F52-8AD6-2DEA54A317AE}"/>
              </a:ext>
            </a:extLst>
          </p:cNvPr>
          <p:cNvSpPr txBox="1"/>
          <p:nvPr/>
        </p:nvSpPr>
        <p:spPr>
          <a:xfrm>
            <a:off x="7086600" y="1257300"/>
            <a:ext cx="411480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Inter"/>
                <a:ea typeface="Inter"/>
              </a:rPr>
              <a:t>SIH26173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C7E391C-9D0F-4C25-93F7-884C814944A4}"/>
              </a:ext>
            </a:extLst>
          </p:cNvPr>
          <p:cNvSpPr txBox="1"/>
          <p:nvPr/>
        </p:nvSpPr>
        <p:spPr>
          <a:xfrm>
            <a:off x="7086600" y="1752600"/>
            <a:ext cx="4114800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PROBLEM STATEMENT TITLE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Inter"/>
                <a:ea typeface="Inter"/>
              </a:rPr>
              <a:t>iTantra - Indian Multilingual TTS &amp; STT Aided Neural Transceiver Radio Access for low bitrate links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17439E0-BA7C-437E-84AE-79D943C718B4}"/>
              </a:ext>
            </a:extLst>
          </p:cNvPr>
          <p:cNvSpPr txBox="1"/>
          <p:nvPr/>
        </p:nvSpPr>
        <p:spPr>
          <a:xfrm>
            <a:off x="7086600" y="2743200"/>
            <a:ext cx="20002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THEME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Inter"/>
                <a:ea typeface="Inter"/>
              </a:rPr>
              <a:t>Smart Automation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99D8D7F-2FF8-4662-AE33-7BC24E68A6D2}"/>
              </a:ext>
            </a:extLst>
          </p:cNvPr>
          <p:cNvSpPr txBox="1"/>
          <p:nvPr/>
        </p:nvSpPr>
        <p:spPr>
          <a:xfrm>
            <a:off x="9201150" y="2743200"/>
            <a:ext cx="20002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PS CATEGORY</a:t>
            </a:r>
          </a:p>
          <a:p>
            <a:pPr algn="l"/>
            <a:r>
              <a:rPr sz="1400">
                <a:solidFill>
                  <a:srgbClr val="FFFFFF"/>
                </a:solidFill>
                <a:latin typeface="Inter"/>
                <a:ea typeface="Inter"/>
              </a:rPr>
              <a:t>Software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C1196A7-ED9B-4525-A6EA-1C4F84697701}"/>
              </a:ext>
            </a:extLst>
          </p:cNvPr>
          <p:cNvSpPr txBox="1"/>
          <p:nvPr/>
        </p:nvSpPr>
        <p:spPr>
          <a:xfrm>
            <a:off x="7086600" y="3352800"/>
            <a:ext cx="4114800" cy="704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ORGANISATION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Inter"/>
                <a:ea typeface="Inter"/>
              </a:rPr>
              <a:t>Indian Space Research Organisation (ISRO)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E64A4C8-A82D-4F1A-A7AE-1D7110FE440F}"/>
              </a:ext>
            </a:extLst>
          </p:cNvPr>
          <p:cNvSpPr txBox="1"/>
          <p:nvPr/>
        </p:nvSpPr>
        <p:spPr>
          <a:xfrm>
            <a:off x="7086600" y="4171950"/>
            <a:ext cx="20002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TEAM NAME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Inter"/>
                <a:ea typeface="Inter"/>
              </a:rPr>
              <a:t>VANI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8A2B276-CA62-472C-8504-DE6DE28AAA27}"/>
              </a:ext>
            </a:extLst>
          </p:cNvPr>
          <p:cNvSpPr txBox="1"/>
          <p:nvPr/>
        </p:nvSpPr>
        <p:spPr>
          <a:xfrm>
            <a:off x="9201150" y="4171950"/>
            <a:ext cx="20002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7E93A8"/>
                </a:solidFill>
                <a:latin typeface="Inter"/>
                <a:ea typeface="Inter"/>
              </a:rPr>
              <a:t>TEAM ID</a:t>
            </a:r>
          </a:p>
          <a:p>
            <a:pPr algn="l"/>
            <a:r>
              <a:rPr sz="1400" b="1" i="1">
                <a:solidFill>
                  <a:srgbClr val="E8A317"/>
                </a:solidFill>
                <a:latin typeface="Inter"/>
                <a:ea typeface="Inter"/>
              </a:rPr>
              <a:t>fill from portal</a:t>
            </a:r>
          </a:p>
        </p:txBody>
      </p:sp>
      <p:cxnSp>
        <p:nvCxnSpPr>
          <p:cNvPr id="33" name="Straight Connector 33">
            <a:extLst>
              <a:ext uri="{FF2B5EF4-FFF2-40B4-BE49-F238E27FC236}">
                <a16:creationId xmlns:a16="http://schemas.microsoft.com/office/drawing/2014/main" id="{6A0CB72C-2C7C-4200-AADC-BC589A493A3C}"/>
              </a:ext>
            </a:extLst>
          </p:cNvPr>
          <p:cNvCxnSpPr/>
          <p:nvPr/>
        </p:nvCxnSpPr>
        <p:spPr>
          <a:xfrm>
            <a:off x="7086600" y="4838700"/>
            <a:ext cx="4114800" cy="9525"/>
          </a:xfrm>
          <a:prstGeom prst="line">
            <a:avLst/>
          </a:prstGeom>
          <a:ln w="12700" cap="flat">
            <a:solidFill>
              <a:srgbClr val="2A4A6E"/>
            </a:solidFill>
          </a:ln>
        </p:spPr>
      </p:cxnSp>
      <p:sp>
        <p:nvSpPr>
          <p:cNvPr id="34" name="TextBox 34">
            <a:extLst>
              <a:ext uri="{FF2B5EF4-FFF2-40B4-BE49-F238E27FC236}">
                <a16:creationId xmlns:a16="http://schemas.microsoft.com/office/drawing/2014/main" id="{DC926CCD-D3F0-4390-A499-C2FC72D25D91}"/>
              </a:ext>
            </a:extLst>
          </p:cNvPr>
          <p:cNvSpPr txBox="1"/>
          <p:nvPr/>
        </p:nvSpPr>
        <p:spPr>
          <a:xfrm>
            <a:off x="7086600" y="4991100"/>
            <a:ext cx="41148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i="1">
                <a:solidFill>
                  <a:srgbClr val="8FA6BC"/>
                </a:solidFill>
                <a:latin typeface="Inter"/>
                <a:ea typeface="Inter"/>
              </a:rPr>
              <a:t>Every figure in this deck is measured from the running app on an Android device. Nothing is projected or illustrative.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EA412D0C-7C9D-4BAE-BF91-FA7D3599C0A4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E21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D1F6E2B-ED8B-41CE-8033-CFC18FF443F9}"/>
              </a:ext>
            </a:extLst>
          </p:cNvPr>
          <p:cNvSpPr txBox="1"/>
          <p:nvPr/>
        </p:nvSpPr>
        <p:spPr>
          <a:xfrm>
            <a:off x="685800" y="66103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D8299"/>
                </a:solidFill>
                <a:latin typeface="Inter"/>
                <a:ea typeface="Inter"/>
              </a:rPr>
              <a:t>Team VANI  ·  Smart India Hackathon 2026 idea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1B75D16-5657-48BD-BF0E-9936992DFAE9}"/>
              </a:ext>
            </a:extLst>
          </p:cNvPr>
          <p:cNvSpPr txBox="1"/>
          <p:nvPr/>
        </p:nvSpPr>
        <p:spPr>
          <a:xfrm>
            <a:off x="609600" y="3619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1B5FD9"/>
                </a:solidFill>
                <a:latin typeface="Inter"/>
                <a:ea typeface="Inter"/>
              </a:rPr>
              <a:t>TECHNICAL APPROACH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FC92EE-95C1-4133-801C-B5BFB5AB7FAB}"/>
              </a:ext>
            </a:extLst>
          </p:cNvPr>
          <p:cNvSpPr txBox="1"/>
          <p:nvPr/>
        </p:nvSpPr>
        <p:spPr>
          <a:xfrm>
            <a:off x="609600" y="552450"/>
            <a:ext cx="95250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4263A"/>
                </a:solidFill>
                <a:latin typeface="Inter"/>
                <a:ea typeface="Inter"/>
              </a:rPr>
              <a:t>Three neural models per phone. The link carries text.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84769D5-7C33-4256-8B68-A1E48A15EF8B}"/>
              </a:ext>
            </a:extLst>
          </p:cNvPr>
          <p:cNvSpPr/>
          <p:nvPr/>
        </p:nvSpPr>
        <p:spPr>
          <a:xfrm>
            <a:off x="457200" y="1123950"/>
            <a:ext cx="3619500" cy="2686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5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F9E120-F95A-4E70-B258-1C463518D16D}"/>
              </a:ext>
            </a:extLst>
          </p:cNvPr>
          <p:cNvSpPr txBox="1"/>
          <p:nvPr/>
        </p:nvSpPr>
        <p:spPr>
          <a:xfrm>
            <a:off x="685800" y="1257300"/>
            <a:ext cx="3162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SENDER - ANDROID PHONE, OFFLINE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FC8A541-3769-4251-8A6A-B26553B169D2}"/>
              </a:ext>
            </a:extLst>
          </p:cNvPr>
          <p:cNvSpPr/>
          <p:nvPr/>
        </p:nvSpPr>
        <p:spPr>
          <a:xfrm>
            <a:off x="685800" y="150495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MicRecorder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AudioRecord - 16 kHz mono PCM16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4502DB6-3155-44E6-AC99-46DAE9279986}"/>
              </a:ext>
            </a:extLst>
          </p:cNvPr>
          <p:cNvSpPr/>
          <p:nvPr/>
        </p:nvSpPr>
        <p:spPr>
          <a:xfrm>
            <a:off x="914400" y="2038350"/>
            <a:ext cx="171450" cy="133350"/>
          </a:xfrm>
          <a:prstGeom prst="down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7422FA2-74D7-406A-A699-5945A8EFF20E}"/>
              </a:ext>
            </a:extLst>
          </p:cNvPr>
          <p:cNvSpPr txBox="1"/>
          <p:nvPr/>
        </p:nvSpPr>
        <p:spPr>
          <a:xfrm>
            <a:off x="1162050" y="20193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log-mel 80 x 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004F02C-83FF-41A0-A0AE-A655C865AC6E}"/>
              </a:ext>
            </a:extLst>
          </p:cNvPr>
          <p:cNvSpPr/>
          <p:nvPr/>
        </p:nvSpPr>
        <p:spPr>
          <a:xfrm>
            <a:off x="685800" y="232410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ConformerStt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IndicConformer-HI - CTC greedy - INT8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49E08D3-87FF-431F-A42A-3B0A1B4792EE}"/>
              </a:ext>
            </a:extLst>
          </p:cNvPr>
          <p:cNvSpPr/>
          <p:nvPr/>
        </p:nvSpPr>
        <p:spPr>
          <a:xfrm>
            <a:off x="914400" y="2857500"/>
            <a:ext cx="171450" cy="133350"/>
          </a:xfrm>
          <a:prstGeom prst="down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1638832-C4C7-41A3-8154-9A84CA029858}"/>
              </a:ext>
            </a:extLst>
          </p:cNvPr>
          <p:cNvSpPr txBox="1"/>
          <p:nvPr/>
        </p:nvSpPr>
        <p:spPr>
          <a:xfrm>
            <a:off x="1162050" y="283845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Devanagari text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D7CD228-FAE0-4C5C-BD25-AC7A8AAE6732}"/>
              </a:ext>
            </a:extLst>
          </p:cNvPr>
          <p:cNvSpPr/>
          <p:nvPr/>
        </p:nvSpPr>
        <p:spPr>
          <a:xfrm>
            <a:off x="685800" y="314325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TranslatorEngine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IndicTrans2 320M - [hi, mr] token prefix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92AD207-199C-4882-AE67-7E339FB41372}"/>
              </a:ext>
            </a:extLst>
          </p:cNvPr>
          <p:cNvSpPr/>
          <p:nvPr/>
        </p:nvSpPr>
        <p:spPr>
          <a:xfrm>
            <a:off x="4114800" y="2381250"/>
            <a:ext cx="323850" cy="247650"/>
          </a:xfrm>
          <a:prstGeom prst="right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00225B4-45CC-41FD-B076-DD534268557D}"/>
              </a:ext>
            </a:extLst>
          </p:cNvPr>
          <p:cNvSpPr txBox="1"/>
          <p:nvPr/>
        </p:nvSpPr>
        <p:spPr>
          <a:xfrm>
            <a:off x="4086225" y="2114550"/>
            <a:ext cx="381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7C"/>
                </a:solidFill>
                <a:latin typeface="Inter"/>
                <a:ea typeface="Inter"/>
              </a:rPr>
              <a:t>UTF-8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141F8B0-AB8C-469E-9EB6-CDE73172DE16}"/>
              </a:ext>
            </a:extLst>
          </p:cNvPr>
          <p:cNvSpPr/>
          <p:nvPr/>
        </p:nvSpPr>
        <p:spPr>
          <a:xfrm>
            <a:off x="4476750" y="1123950"/>
            <a:ext cx="3238500" cy="2686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5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C91BFE6-A0E1-462C-9D45-EDB4E00A1719}"/>
              </a:ext>
            </a:extLst>
          </p:cNvPr>
          <p:cNvSpPr txBox="1"/>
          <p:nvPr/>
        </p:nvSpPr>
        <p:spPr>
          <a:xfrm>
            <a:off x="4705350" y="125730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THE LINK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BB7B722-24CA-4A8D-9071-DDBEC2345229}"/>
              </a:ext>
            </a:extLst>
          </p:cNvPr>
          <p:cNvSpPr txBox="1"/>
          <p:nvPr/>
        </p:nvSpPr>
        <p:spPr>
          <a:xfrm>
            <a:off x="4705350" y="1504950"/>
            <a:ext cx="27813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8A317"/>
                </a:solidFill>
                <a:latin typeface="Inter"/>
                <a:ea typeface="Inter"/>
              </a:rPr>
              <a:t>~90 B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319B46D-BC9F-4092-AAE6-C37DEAA5AE82}"/>
              </a:ext>
            </a:extLst>
          </p:cNvPr>
          <p:cNvSpPr txBox="1"/>
          <p:nvPr/>
        </p:nvSpPr>
        <p:spPr>
          <a:xfrm>
            <a:off x="4705350" y="2038350"/>
            <a:ext cx="2781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of text crosses the link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2741152-C14C-4736-A39A-F887BBF191A2}"/>
              </a:ext>
            </a:extLst>
          </p:cNvPr>
          <p:cNvSpPr txBox="1"/>
          <p:nvPr/>
        </p:nvSpPr>
        <p:spPr>
          <a:xfrm>
            <a:off x="4705350" y="2324100"/>
            <a:ext cx="27813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against ~91 KB of raw 16 kHz PCM for the same sentence.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F968E0B-D1DA-446E-B856-5958F7D6A916}"/>
              </a:ext>
            </a:extLst>
          </p:cNvPr>
          <p:cNvSpPr txBox="1"/>
          <p:nvPr/>
        </p:nvSpPr>
        <p:spPr>
          <a:xfrm>
            <a:off x="4705350" y="2914650"/>
            <a:ext cx="27813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Bluetooth RFCOMM / Wi-Fi Direct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, the transport SIH26173 names.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CB9A0A9-B5FE-429E-963F-A94C9C13D910}"/>
              </a:ext>
            </a:extLst>
          </p:cNvPr>
          <p:cNvSpPr txBox="1"/>
          <p:nvPr/>
        </p:nvSpPr>
        <p:spPr>
          <a:xfrm>
            <a:off x="4705350" y="3505200"/>
            <a:ext cx="27813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 i="1">
                <a:solidFill>
                  <a:srgbClr val="E8A317"/>
                </a:solidFill>
                <a:latin typeface="Inter"/>
                <a:ea typeface="Inter"/>
              </a:rPr>
              <a:t>Today: in-app loopback.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7F1915E-1B2A-4ABC-84EC-093C34F85B05}"/>
              </a:ext>
            </a:extLst>
          </p:cNvPr>
          <p:cNvSpPr/>
          <p:nvPr/>
        </p:nvSpPr>
        <p:spPr>
          <a:xfrm>
            <a:off x="7753350" y="2381250"/>
            <a:ext cx="323850" cy="247650"/>
          </a:xfrm>
          <a:prstGeom prst="right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0992172-74B9-49CA-98E9-6DAB54912E20}"/>
              </a:ext>
            </a:extLst>
          </p:cNvPr>
          <p:cNvSpPr txBox="1"/>
          <p:nvPr/>
        </p:nvSpPr>
        <p:spPr>
          <a:xfrm>
            <a:off x="7724775" y="2114550"/>
            <a:ext cx="381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7C"/>
                </a:solidFill>
                <a:latin typeface="Inter"/>
                <a:ea typeface="Inter"/>
              </a:rPr>
              <a:t>UTF-8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0974FB18-E59B-4127-BE55-3349CC58E130}"/>
              </a:ext>
            </a:extLst>
          </p:cNvPr>
          <p:cNvSpPr/>
          <p:nvPr/>
        </p:nvSpPr>
        <p:spPr>
          <a:xfrm>
            <a:off x="8115300" y="1123950"/>
            <a:ext cx="3619500" cy="2686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5E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6EAD1F6-C3B9-4577-8E16-4B8EC15C20C1}"/>
              </a:ext>
            </a:extLst>
          </p:cNvPr>
          <p:cNvSpPr txBox="1"/>
          <p:nvPr/>
        </p:nvSpPr>
        <p:spPr>
          <a:xfrm>
            <a:off x="8343900" y="1257300"/>
            <a:ext cx="3162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RECEIVER - ANDROID PHONE, OFFLINE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AB8A9C3F-25EF-4688-9A3A-4BACBD692457}"/>
              </a:ext>
            </a:extLst>
          </p:cNvPr>
          <p:cNvSpPr/>
          <p:nvPr/>
        </p:nvSpPr>
        <p:spPr>
          <a:xfrm>
            <a:off x="8343900" y="150495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DhVaaniEngine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IndicF5 - flow matching - 8 Euler steps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E6305C7-3855-42A6-BEAB-6F340576254B}"/>
              </a:ext>
            </a:extLst>
          </p:cNvPr>
          <p:cNvSpPr/>
          <p:nvPr/>
        </p:nvSpPr>
        <p:spPr>
          <a:xfrm>
            <a:off x="8572500" y="2038350"/>
            <a:ext cx="171450" cy="133350"/>
          </a:xfrm>
          <a:prstGeom prst="down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AB78B16-E6E3-4E4A-9E71-362FB4C7E518}"/>
              </a:ext>
            </a:extLst>
          </p:cNvPr>
          <p:cNvSpPr txBox="1"/>
          <p:nvPr/>
        </p:nvSpPr>
        <p:spPr>
          <a:xfrm>
            <a:off x="8820150" y="20193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conditioned on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EAE0ED91-BF71-4B15-980F-6193BB2ED92C}"/>
              </a:ext>
            </a:extLst>
          </p:cNvPr>
          <p:cNvSpPr/>
          <p:nvPr/>
        </p:nvSpPr>
        <p:spPr>
          <a:xfrm>
            <a:off x="8343900" y="232410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Reference prompt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per-language voice clip - 320 mel frames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D8DF84E8-9DA3-4BE8-9CB2-8EFAE4AB3F01}"/>
              </a:ext>
            </a:extLst>
          </p:cNvPr>
          <p:cNvSpPr/>
          <p:nvPr/>
        </p:nvSpPr>
        <p:spPr>
          <a:xfrm>
            <a:off x="8572500" y="2857500"/>
            <a:ext cx="171450" cy="133350"/>
          </a:xfrm>
          <a:prstGeom prst="downArrow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5EF5B6E-6C5D-4E4B-BCEB-CA1DA9E51B81}"/>
              </a:ext>
            </a:extLst>
          </p:cNvPr>
          <p:cNvSpPr txBox="1"/>
          <p:nvPr/>
        </p:nvSpPr>
        <p:spPr>
          <a:xfrm>
            <a:off x="8820150" y="283845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24 kHz PCM16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A43552CE-9C6F-41AA-B44D-CDF7EEA6DDEF}"/>
              </a:ext>
            </a:extLst>
          </p:cNvPr>
          <p:cNvSpPr/>
          <p:nvPr/>
        </p:nvSpPr>
        <p:spPr>
          <a:xfrm>
            <a:off x="8343900" y="3143250"/>
            <a:ext cx="3162300" cy="495300"/>
          </a:xfrm>
          <a:prstGeom prst="roundRect">
            <a:avLst/>
          </a:prstGeom>
          <a:solidFill>
            <a:srgbClr val="EDF3FC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Player</a:t>
            </a:r>
          </a:p>
          <a:p>
            <a:pPr algn="l"/>
            <a:r>
              <a:rPr sz="1300">
                <a:solidFill>
                  <a:srgbClr val="41566E"/>
                </a:solidFill>
                <a:latin typeface="Inter"/>
                <a:ea typeface="Inter"/>
              </a:rPr>
              <a:t>AudioTrack - one buffer per utterance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29AAA657-0A9E-4618-BF0A-FC131A980817}"/>
              </a:ext>
            </a:extLst>
          </p:cNvPr>
          <p:cNvSpPr/>
          <p:nvPr/>
        </p:nvSpPr>
        <p:spPr>
          <a:xfrm>
            <a:off x="457200" y="3943350"/>
            <a:ext cx="6286500" cy="2628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5A5E64D-94F2-4F90-8B32-4805FF0E63BC}"/>
              </a:ext>
            </a:extLst>
          </p:cNvPr>
          <p:cNvSpPr txBox="1"/>
          <p:nvPr/>
        </p:nvSpPr>
        <p:spPr>
          <a:xfrm>
            <a:off x="685800" y="40767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HOW IT IS BUILT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960A6AF6-B9E0-463B-9BF7-89CB8C77972D}"/>
              </a:ext>
            </a:extLst>
          </p:cNvPr>
          <p:cNvSpPr txBox="1"/>
          <p:nvPr/>
        </p:nvSpPr>
        <p:spPr>
          <a:xfrm>
            <a:off x="685800" y="4343400"/>
            <a:ext cx="5715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Kotlin 1.8, Jetpack Compose Material3, 3,094 lines, no XML.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One Activity, two panels, no navigation graph.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2A18964-2D5A-499A-8110-B101962C9A0A}"/>
              </a:ext>
            </a:extLst>
          </p:cNvPr>
          <p:cNvSpPr txBox="1"/>
          <p:nvPr/>
        </p:nvSpPr>
        <p:spPr>
          <a:xfrm>
            <a:off x="685800" y="4886325"/>
            <a:ext cx="5715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ONNX Runtime Android 1.22.0 on the CPU execution provider.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Threads = cores/2 capped at 4; more measured slower.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95AF4EC-3F41-4D9A-82E3-66E5D731FE3E}"/>
              </a:ext>
            </a:extLst>
          </p:cNvPr>
          <p:cNvSpPr txBox="1"/>
          <p:nvPr/>
        </p:nvSpPr>
        <p:spPr>
          <a:xfrm>
            <a:off x="685800" y="5429250"/>
            <a:ext cx="5715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5 of 6 graphs INT8-quantised.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Mel, FFT and iSTFT are Kotlin - no NDK, no native audio code.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3263AEB-B63C-4855-8491-DDEE2FFED82D}"/>
              </a:ext>
            </a:extLst>
          </p:cNvPr>
          <p:cNvSpPr txBox="1"/>
          <p:nvPr/>
        </p:nvSpPr>
        <p:spPr>
          <a:xfrm>
            <a:off x="685800" y="5972175"/>
            <a:ext cx="5715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5FD9"/>
                </a:solidFill>
                <a:latin typeface="Inter"/>
                <a:ea typeface="Inter"/>
              </a:rPr>
              <a:t>STT 137.3 MB - MT 528.5 MB - TTS 185.3 MB - voices 6.8 MB.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857.9 MB of assets streams from a 718.9 MB install.</a:t>
            </a:r>
          </a:p>
        </p:txBody>
      </p:sp>
      <p:pic>
        <p:nvPicPr>
          <p:cNvPr id="41" name="Picture 41">
            <a:extLst>
              <a:ext uri="{FF2B5EF4-FFF2-40B4-BE49-F238E27FC236}">
                <a16:creationId xmlns:a16="http://schemas.microsoft.com/office/drawing/2014/main" id="{F3C4BD06-663D-4216-9605-BEEE8A96328F}"/>
              </a:ext>
            </a:extLst>
          </p:cNvPr>
          <p:cNvPicPr/>
          <p:nvPr/>
        </p:nvPicPr>
        <p:blipFill>
          <a:blip r:embed="rId2"/>
          <a:srcRect t="13091" b="13091"/>
          <a:stretch>
            <a:fillRect/>
          </a:stretch>
        </p:blipFill>
        <p:spPr>
          <a:xfrm>
            <a:off x="6896100" y="3943350"/>
            <a:ext cx="4838700" cy="238125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275D3212-85C4-4A43-A410-D58A04A807A0}"/>
              </a:ext>
            </a:extLst>
          </p:cNvPr>
          <p:cNvSpPr txBox="1"/>
          <p:nvPr/>
        </p:nvSpPr>
        <p:spPr>
          <a:xfrm>
            <a:off x="6896100" y="6343650"/>
            <a:ext cx="48387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5B6B7C"/>
                </a:solidFill>
                <a:latin typeface="Inter"/>
                <a:ea typeface="Inter"/>
              </a:rPr>
              <a:t>Captured from the built app: Hindi in, Marathi out, replay cached.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85DECF1-5CA5-4AB9-96B3-F2A7C8890B96}"/>
              </a:ext>
            </a:extLst>
          </p:cNvPr>
          <p:cNvSpPr txBox="1"/>
          <p:nvPr/>
        </p:nvSpPr>
        <p:spPr>
          <a:xfrm>
            <a:off x="609600" y="3619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1B5FD9"/>
                </a:solidFill>
                <a:latin typeface="Inter"/>
                <a:ea typeface="Inter"/>
              </a:rPr>
              <a:t>IMPACT AND BENEFITS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AB0F17-0563-488A-862F-7D4DE3FAB1B9}"/>
              </a:ext>
            </a:extLst>
          </p:cNvPr>
          <p:cNvSpPr txBox="1"/>
          <p:nvPr/>
        </p:nvSpPr>
        <p:spPr>
          <a:xfrm>
            <a:off x="609600" y="552450"/>
            <a:ext cx="104775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4263A"/>
                </a:solidFill>
                <a:latin typeface="Inter"/>
                <a:ea typeface="Inter"/>
              </a:rPr>
              <a:t>A thousand times less to send. And nobody has to read.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AFCE5BF-4E1E-4354-88CE-EDC7A196A1D2}"/>
              </a:ext>
            </a:extLst>
          </p:cNvPr>
          <p:cNvSpPr/>
          <p:nvPr/>
        </p:nvSpPr>
        <p:spPr>
          <a:xfrm>
            <a:off x="457200" y="1143000"/>
            <a:ext cx="112776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A0CF81E-E6E6-40F0-8EB2-06E0F058FEB4}"/>
              </a:ext>
            </a:extLst>
          </p:cNvPr>
          <p:cNvSpPr txBox="1"/>
          <p:nvPr/>
        </p:nvSpPr>
        <p:spPr>
          <a:xfrm>
            <a:off x="762000" y="1447800"/>
            <a:ext cx="3619500" cy="85344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1B5FD9"/>
                </a:solidFill>
                <a:latin typeface="Inter"/>
                <a:ea typeface="Inter"/>
              </a:rPr>
              <a:t>~1,000x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221992-F595-4C02-9D73-B6EFD7EB9F17}"/>
              </a:ext>
            </a:extLst>
          </p:cNvPr>
          <p:cNvSpPr txBox="1"/>
          <p:nvPr/>
        </p:nvSpPr>
        <p:spPr>
          <a:xfrm>
            <a:off x="4572000" y="1409700"/>
            <a:ext cx="6096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4263A"/>
                </a:solidFill>
                <a:latin typeface="Inter"/>
                <a:ea typeface="Inter"/>
              </a:rPr>
              <a:t>smaller payload on the constrained link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C895D60-64B3-4D89-9697-AD9642C258A0}"/>
              </a:ext>
            </a:extLst>
          </p:cNvPr>
          <p:cNvSpPr/>
          <p:nvPr/>
        </p:nvSpPr>
        <p:spPr>
          <a:xfrm>
            <a:off x="4572000" y="1752600"/>
            <a:ext cx="6553200" cy="800100"/>
          </a:xfrm>
          <a:prstGeom prst="roundRect">
            <a:avLst/>
          </a:prstGeom>
          <a:solidFill>
            <a:srgbClr val="F4F6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8459B0-EE96-4D56-BE76-58C6B5863A11}"/>
              </a:ext>
            </a:extLst>
          </p:cNvPr>
          <p:cNvSpPr txBox="1"/>
          <p:nvPr/>
        </p:nvSpPr>
        <p:spPr>
          <a:xfrm>
            <a:off x="4724400" y="1866900"/>
            <a:ext cx="62484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2.9 s of speech = 92,800 bytes at 16 kHz mono PCM16.</a:t>
            </a:r>
            <a:br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Its 7-word Hindi transcript = 90 bytes of UTF-8.  Same meaning, 0.1% of the airtime.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9F4B6D5-4A50-4D61-8EEB-0A534A276F26}"/>
              </a:ext>
            </a:extLst>
          </p:cNvPr>
          <p:cNvSpPr/>
          <p:nvPr/>
        </p:nvSpPr>
        <p:spPr>
          <a:xfrm>
            <a:off x="457200" y="2724150"/>
            <a:ext cx="2667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990BAFA-C2F1-4999-BA77-2ADD2959BA34}"/>
              </a:ext>
            </a:extLst>
          </p:cNvPr>
          <p:cNvSpPr/>
          <p:nvPr/>
        </p:nvSpPr>
        <p:spPr>
          <a:xfrm>
            <a:off x="3276600" y="2724150"/>
            <a:ext cx="2667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3A40F28-B6DE-49B2-813C-6B5E0B3F863D}"/>
              </a:ext>
            </a:extLst>
          </p:cNvPr>
          <p:cNvSpPr/>
          <p:nvPr/>
        </p:nvSpPr>
        <p:spPr>
          <a:xfrm>
            <a:off x="6096000" y="2724150"/>
            <a:ext cx="2667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5BCC066-F042-456B-B66D-0DC159CF0ED4}"/>
              </a:ext>
            </a:extLst>
          </p:cNvPr>
          <p:cNvSpPr/>
          <p:nvPr/>
        </p:nvSpPr>
        <p:spPr>
          <a:xfrm>
            <a:off x="8915400" y="2724150"/>
            <a:ext cx="2667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5130A17-55E8-4D9C-8E7A-FA710117526D}"/>
              </a:ext>
            </a:extLst>
          </p:cNvPr>
          <p:cNvSpPr txBox="1"/>
          <p:nvPr/>
        </p:nvSpPr>
        <p:spPr>
          <a:xfrm>
            <a:off x="609600" y="2876550"/>
            <a:ext cx="2362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Low-literacy users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9074953-6791-46BF-915A-483DA53D6589}"/>
              </a:ext>
            </a:extLst>
          </p:cNvPr>
          <p:cNvSpPr txBox="1"/>
          <p:nvPr/>
        </p:nvSpPr>
        <p:spPr>
          <a:xfrm>
            <a:off x="609600" y="3143250"/>
            <a:ext cx="23622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Neither side has to read or type.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6BDAE51-2CEB-40EC-B5A0-52FF0A776CB9}"/>
              </a:ext>
            </a:extLst>
          </p:cNvPr>
          <p:cNvSpPr txBox="1"/>
          <p:nvPr/>
        </p:nvSpPr>
        <p:spPr>
          <a:xfrm>
            <a:off x="3429000" y="2876550"/>
            <a:ext cx="2362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Injured or panicking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D9DEA72-730F-4EB9-80E0-EE5C639F65CD}"/>
              </a:ext>
            </a:extLst>
          </p:cNvPr>
          <p:cNvSpPr txBox="1"/>
          <p:nvPr/>
        </p:nvSpPr>
        <p:spPr>
          <a:xfrm>
            <a:off x="3429000" y="3143250"/>
            <a:ext cx="23622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A mic hold is one gesture. Composing text is not available.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3E75C84-1575-4357-8CC7-72DFA160ACDB}"/>
              </a:ext>
            </a:extLst>
          </p:cNvPr>
          <p:cNvSpPr txBox="1"/>
          <p:nvPr/>
        </p:nvSpPr>
        <p:spPr>
          <a:xfrm>
            <a:off x="6248400" y="2876550"/>
            <a:ext cx="2362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Cross-language teams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E31325E-740B-4C75-B783-C408A34866D7}"/>
              </a:ext>
            </a:extLst>
          </p:cNvPr>
          <p:cNvSpPr txBox="1"/>
          <p:nvPr/>
        </p:nvSpPr>
        <p:spPr>
          <a:xfrm>
            <a:off x="6248400" y="3143250"/>
            <a:ext cx="23622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Responder and caller rarely share a written language.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E41DE8A-C8E3-403E-BC49-1EE2F575DA1A}"/>
              </a:ext>
            </a:extLst>
          </p:cNvPr>
          <p:cNvSpPr txBox="1"/>
          <p:nvPr/>
        </p:nvSpPr>
        <p:spPr>
          <a:xfrm>
            <a:off x="9067800" y="2876550"/>
            <a:ext cx="2362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Narrow links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1EDECDA-3875-47B0-A5DE-030EC5B53654}"/>
              </a:ext>
            </a:extLst>
          </p:cNvPr>
          <p:cNvSpPr txBox="1"/>
          <p:nvPr/>
        </p:nvSpPr>
        <p:spPr>
          <a:xfrm>
            <a:off x="9067800" y="3143250"/>
            <a:ext cx="23622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90 bytes fits where 91 KB of audio cannot go at all.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A4F1F9B-8102-4BED-AAA2-ACB4BC8CFA65}"/>
              </a:ext>
            </a:extLst>
          </p:cNvPr>
          <p:cNvSpPr/>
          <p:nvPr/>
        </p:nvSpPr>
        <p:spPr>
          <a:xfrm>
            <a:off x="457200" y="4019550"/>
            <a:ext cx="11277600" cy="255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448E451-5C5A-4AAF-9929-CBA36D58169C}"/>
              </a:ext>
            </a:extLst>
          </p:cNvPr>
          <p:cNvSpPr txBox="1"/>
          <p:nvPr/>
        </p:nvSpPr>
        <p:spPr>
          <a:xfrm>
            <a:off x="685800" y="4191000"/>
            <a:ext cx="1047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AGAINST THE SIH26173 MINIMUM DEMO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AA9B496C-57CB-418F-9079-1813BB59871A}"/>
              </a:ext>
            </a:extLst>
          </p:cNvPr>
          <p:cNvSpPr/>
          <p:nvPr/>
        </p:nvSpPr>
        <p:spPr>
          <a:xfrm>
            <a:off x="685800" y="4476750"/>
            <a:ext cx="952500" cy="247650"/>
          </a:xfrm>
          <a:prstGeom prst="roundRect">
            <a:avLst/>
          </a:prstGeom>
          <a:solidFill>
            <a:srgbClr val="1B5FD9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  <a:ea typeface="Inter"/>
              </a:rPr>
              <a:t>BUILT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BEEE6B3-23B4-4B03-A72D-DEFEBD708E7E}"/>
              </a:ext>
            </a:extLst>
          </p:cNvPr>
          <p:cNvSpPr txBox="1"/>
          <p:nvPr/>
        </p:nvSpPr>
        <p:spPr>
          <a:xfrm>
            <a:off x="1809750" y="447675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Speak a sentence in one Indian language into one phone.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F16150E1-BEDF-48D7-A9AE-6769D2DBB849}"/>
              </a:ext>
            </a:extLst>
          </p:cNvPr>
          <p:cNvSpPr/>
          <p:nvPr/>
        </p:nvSpPr>
        <p:spPr>
          <a:xfrm>
            <a:off x="685800" y="4838700"/>
            <a:ext cx="952500" cy="247650"/>
          </a:xfrm>
          <a:prstGeom prst="roundRect">
            <a:avLst/>
          </a:prstGeom>
          <a:solidFill>
            <a:srgbClr val="1B5FD9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  <a:ea typeface="Inter"/>
              </a:rPr>
              <a:t>BUILT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A88D64E-2AD0-4299-9250-8F5BB248D1F5}"/>
              </a:ext>
            </a:extLst>
          </p:cNvPr>
          <p:cNvSpPr txBox="1"/>
          <p:nvPr/>
        </p:nvSpPr>
        <p:spPr>
          <a:xfrm>
            <a:off x="1809750" y="48387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Show it transcribed on-device - 13.1% word error rate, 4.8% character error rate, measured.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546613A-C4CE-49E4-886A-EE0A6EEA5B4B}"/>
              </a:ext>
            </a:extLst>
          </p:cNvPr>
          <p:cNvSpPr/>
          <p:nvPr/>
        </p:nvSpPr>
        <p:spPr>
          <a:xfrm>
            <a:off x="685800" y="5200650"/>
            <a:ext cx="952500" cy="247650"/>
          </a:xfrm>
          <a:prstGeom prst="roundRect">
            <a:avLst/>
          </a:prstGeom>
          <a:solidFill>
            <a:srgbClr val="1B5FD9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  <a:ea typeface="Inter"/>
              </a:rPr>
              <a:t>BUILT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C3C5DDA-BB75-4F7D-A5B7-AD2D4833BD66}"/>
              </a:ext>
            </a:extLst>
          </p:cNvPr>
          <p:cNvSpPr txBox="1"/>
          <p:nvPr/>
        </p:nvSpPr>
        <p:spPr>
          <a:xfrm>
            <a:off x="1809750" y="520065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A second phone speaks it back intelligibly in its own language, as a replayable voice note.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2EBBCC2E-743E-45DA-985B-1851118F8880}"/>
              </a:ext>
            </a:extLst>
          </p:cNvPr>
          <p:cNvSpPr/>
          <p:nvPr/>
        </p:nvSpPr>
        <p:spPr>
          <a:xfrm>
            <a:off x="685800" y="5562600"/>
            <a:ext cx="952500" cy="247650"/>
          </a:xfrm>
          <a:prstGeom prst="roundRect">
            <a:avLst/>
          </a:prstGeom>
          <a:ln w="12700">
            <a:solidFill>
              <a:srgbClr val="E8A31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B4790B"/>
                </a:solidFill>
                <a:latin typeface="Inter"/>
                <a:ea typeface="Inter"/>
              </a:rPr>
              <a:t>OPEN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78A8225-14B7-49DF-965A-158BDD3DC4C0}"/>
              </a:ext>
            </a:extLst>
          </p:cNvPr>
          <p:cNvSpPr txBox="1"/>
          <p:nvPr/>
        </p:nvSpPr>
        <p:spPr>
          <a:xfrm>
            <a:off x="1809750" y="55626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Carry the text over Bluetooth rather than the in-app loopback - the one remaining integration step.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F7DC7F6F-E5A6-46BF-B386-F95D7B150415}"/>
              </a:ext>
            </a:extLst>
          </p:cNvPr>
          <p:cNvSpPr/>
          <p:nvPr/>
        </p:nvSpPr>
        <p:spPr>
          <a:xfrm>
            <a:off x="685800" y="5924550"/>
            <a:ext cx="952500" cy="247650"/>
          </a:xfrm>
          <a:prstGeom prst="roundRect">
            <a:avLst/>
          </a:prstGeom>
          <a:solidFill>
            <a:srgbClr val="1B5FD9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  <a:ea typeface="Inter"/>
              </a:rPr>
              <a:t>BUILT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6398E97-CD3A-4679-9EED-1F2501922E64}"/>
              </a:ext>
            </a:extLst>
          </p:cNvPr>
          <p:cNvSpPr txBox="1"/>
          <p:nvPr/>
        </p:nvSpPr>
        <p:spPr>
          <a:xfrm>
            <a:off x="1809750" y="592455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1566E"/>
                </a:solidFill>
                <a:latin typeface="Inter"/>
                <a:ea typeface="Inter"/>
              </a:rPr>
              <a:t>Report end-to-end latency and word error rate - 12.9 s and 13.1%, both from the running app.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A03595C-FC27-4F3E-8D27-6DF78BC4DD90}"/>
              </a:ext>
            </a:extLst>
          </p:cNvPr>
          <p:cNvSpPr txBox="1"/>
          <p:nvPr/>
        </p:nvSpPr>
        <p:spPr>
          <a:xfrm>
            <a:off x="685800" y="6267450"/>
            <a:ext cx="1047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8A98A8"/>
                </a:solidFill>
                <a:latin typeface="Inter"/>
                <a:ea typeface="Inter"/>
              </a:rPr>
              <a:t>Nothing on this slide is projected. Every figure came from a run of the installed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AD268AE-9B42-4032-9FCE-2683601893BF}"/>
              </a:ext>
            </a:extLst>
          </p:cNvPr>
          <p:cNvSpPr txBox="1"/>
          <p:nvPr/>
        </p:nvSpPr>
        <p:spPr>
          <a:xfrm>
            <a:off x="609600" y="3619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1B5FD9"/>
                </a:solidFill>
                <a:latin typeface="Inter"/>
                <a:ea typeface="Inter"/>
              </a:rPr>
              <a:t>FEASIBILITY AND VIABILITY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71DB37-D673-4377-8A6F-B5CD9E81A296}"/>
              </a:ext>
            </a:extLst>
          </p:cNvPr>
          <p:cNvSpPr txBox="1"/>
          <p:nvPr/>
        </p:nvSpPr>
        <p:spPr>
          <a:xfrm>
            <a:off x="609600" y="552450"/>
            <a:ext cx="95250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4263A"/>
                </a:solidFill>
                <a:latin typeface="Inter"/>
                <a:ea typeface="Inter"/>
              </a:rPr>
              <a:t>Measured on the running app, walls included.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3977423-FF85-454E-AB73-53C5ED098315}"/>
              </a:ext>
            </a:extLst>
          </p:cNvPr>
          <p:cNvSpPr/>
          <p:nvPr/>
        </p:nvSpPr>
        <p:spPr>
          <a:xfrm>
            <a:off x="457200" y="1123950"/>
            <a:ext cx="5334000" cy="1390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38236A-B3CB-469F-B6FE-C3103A2CD637}"/>
              </a:ext>
            </a:extLst>
          </p:cNvPr>
          <p:cNvSpPr txBox="1"/>
          <p:nvPr/>
        </p:nvSpPr>
        <p:spPr>
          <a:xfrm>
            <a:off x="685800" y="1257300"/>
            <a:ext cx="2000250" cy="6858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1B5FD9"/>
                </a:solidFill>
                <a:latin typeface="Inter"/>
                <a:ea typeface="Inter"/>
              </a:rPr>
              <a:t>13.1%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3E8A4F6-59B5-4864-93C0-59181F222283}"/>
              </a:ext>
            </a:extLst>
          </p:cNvPr>
          <p:cNvSpPr txBox="1"/>
          <p:nvPr/>
        </p:nvSpPr>
        <p:spPr>
          <a:xfrm>
            <a:off x="2743200" y="1352550"/>
            <a:ext cx="2857500" cy="571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word error rate</a:t>
            </a:r>
          </a:p>
          <a:p>
            <a:pPr algn="l"/>
            <a:r>
              <a:rPr sz="1500">
                <a:solidFill>
                  <a:srgbClr val="5B6B7C"/>
                </a:solidFill>
                <a:latin typeface="Inter"/>
                <a:ea typeface="Inter"/>
              </a:rPr>
              <a:t>4.8% character error rate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B5042B-CF8A-441F-B33C-E7EA0518DE6E}"/>
              </a:ext>
            </a:extLst>
          </p:cNvPr>
          <p:cNvSpPr txBox="1"/>
          <p:nvPr/>
        </p:nvSpPr>
        <p:spPr>
          <a:xfrm>
            <a:off x="685800" y="1981200"/>
            <a:ext cx="48768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Scored on-device against AI4Bharat Kathbath Hindi: 40 clips, 207 s of speech, 19 speakers.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A558656-16CB-4D9D-A5B0-47E1C63CA038}"/>
              </a:ext>
            </a:extLst>
          </p:cNvPr>
          <p:cNvSpPr/>
          <p:nvPr/>
        </p:nvSpPr>
        <p:spPr>
          <a:xfrm>
            <a:off x="457200" y="2647950"/>
            <a:ext cx="1695450" cy="1123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32EAF5B-918A-4DC9-B76B-3C6041F06597}"/>
              </a:ext>
            </a:extLst>
          </p:cNvPr>
          <p:cNvSpPr/>
          <p:nvPr/>
        </p:nvSpPr>
        <p:spPr>
          <a:xfrm>
            <a:off x="2276475" y="2647950"/>
            <a:ext cx="1695450" cy="1123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553DE7C-879A-42BC-8551-1DC748AF02C6}"/>
              </a:ext>
            </a:extLst>
          </p:cNvPr>
          <p:cNvSpPr/>
          <p:nvPr/>
        </p:nvSpPr>
        <p:spPr>
          <a:xfrm>
            <a:off x="4095750" y="2647950"/>
            <a:ext cx="1695450" cy="1123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6D60F4-F962-47DD-AF25-6214C10B0B75}"/>
              </a:ext>
            </a:extLst>
          </p:cNvPr>
          <p:cNvSpPr txBox="1"/>
          <p:nvPr/>
        </p:nvSpPr>
        <p:spPr>
          <a:xfrm>
            <a:off x="571500" y="2800350"/>
            <a:ext cx="14668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4263A"/>
                </a:solidFill>
                <a:latin typeface="Inter"/>
                <a:ea typeface="Inter"/>
              </a:rPr>
              <a:t>0.23x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B16F0C-ED82-4254-82F9-6913FB0C6E35}"/>
              </a:ext>
            </a:extLst>
          </p:cNvPr>
          <p:cNvSpPr txBox="1"/>
          <p:nvPr/>
        </p:nvSpPr>
        <p:spPr>
          <a:xfrm>
            <a:off x="571500" y="3143250"/>
            <a:ext cx="14668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faster than real time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58AF50C-2C55-45E6-B9C2-314C823F5841}"/>
              </a:ext>
            </a:extLst>
          </p:cNvPr>
          <p:cNvSpPr txBox="1"/>
          <p:nvPr/>
        </p:nvSpPr>
        <p:spPr>
          <a:xfrm>
            <a:off x="2390775" y="2800350"/>
            <a:ext cx="14668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4263A"/>
                </a:solidFill>
                <a:latin typeface="Inter"/>
                <a:ea typeface="Inter"/>
              </a:rPr>
              <a:t>627 ms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480B17-2BD0-48C4-8756-B1ED7F9EBA13}"/>
              </a:ext>
            </a:extLst>
          </p:cNvPr>
          <p:cNvSpPr txBox="1"/>
          <p:nvPr/>
        </p:nvSpPr>
        <p:spPr>
          <a:xfrm>
            <a:off x="2390775" y="3143250"/>
            <a:ext cx="14668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Hindi to Marathi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6282608-F52A-45C9-9086-CA1C52EF204F}"/>
              </a:ext>
            </a:extLst>
          </p:cNvPr>
          <p:cNvSpPr txBox="1"/>
          <p:nvPr/>
        </p:nvSpPr>
        <p:spPr>
          <a:xfrm>
            <a:off x="4210050" y="2800350"/>
            <a:ext cx="14668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8A317"/>
                </a:solidFill>
                <a:latin typeface="Inter"/>
                <a:ea typeface="Inter"/>
              </a:rPr>
              <a:t>12.9 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AB9609-9416-406A-9BAC-813A5F46B1C8}"/>
              </a:ext>
            </a:extLst>
          </p:cNvPr>
          <p:cNvSpPr txBox="1"/>
          <p:nvPr/>
        </p:nvSpPr>
        <p:spPr>
          <a:xfrm>
            <a:off x="4210050" y="3143250"/>
            <a:ext cx="146685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mic release to first audio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3EE1F2E-2E01-4E63-86F7-37F7EBF2A2F9}"/>
              </a:ext>
            </a:extLst>
          </p:cNvPr>
          <p:cNvSpPr/>
          <p:nvPr/>
        </p:nvSpPr>
        <p:spPr>
          <a:xfrm>
            <a:off x="457200" y="3905250"/>
            <a:ext cx="5334000" cy="2019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DA9B6F5-3931-44E9-BF75-28ABAD019974}"/>
              </a:ext>
            </a:extLst>
          </p:cNvPr>
          <p:cNvSpPr txBox="1"/>
          <p:nvPr/>
        </p:nvSpPr>
        <p:spPr>
          <a:xfrm>
            <a:off x="685800" y="4057650"/>
            <a:ext cx="4876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WHERE THE 16.2 SECONDS GO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29C3FEC-C227-444B-BEB2-AB64D2F3F666}"/>
              </a:ext>
            </a:extLst>
          </p:cNvPr>
          <p:cNvSpPr/>
          <p:nvPr/>
        </p:nvSpPr>
        <p:spPr>
          <a:xfrm>
            <a:off x="685800" y="4362450"/>
            <a:ext cx="323850" cy="247650"/>
          </a:xfrm>
          <a:prstGeom prst="rect">
            <a:avLst/>
          </a:prstGeom>
          <a:solidFill>
            <a:srgbClr val="A8C2E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51F8B69-9954-4D21-9EC3-4F8390C954FF}"/>
              </a:ext>
            </a:extLst>
          </p:cNvPr>
          <p:cNvSpPr/>
          <p:nvPr/>
        </p:nvSpPr>
        <p:spPr>
          <a:xfrm>
            <a:off x="1009650" y="4362450"/>
            <a:ext cx="190500" cy="247650"/>
          </a:xfrm>
          <a:prstGeom prst="rect">
            <a:avLst/>
          </a:prstGeom>
          <a:solidFill>
            <a:srgbClr val="6E97E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8BC35FF4-3EE8-485F-B7A8-1A4F3F3EFB0B}"/>
              </a:ext>
            </a:extLst>
          </p:cNvPr>
          <p:cNvSpPr/>
          <p:nvPr/>
        </p:nvSpPr>
        <p:spPr>
          <a:xfrm>
            <a:off x="1200150" y="4362450"/>
            <a:ext cx="3371850" cy="247650"/>
          </a:xfrm>
          <a:prstGeom prst="rect">
            <a:avLst/>
          </a:prstGeom>
          <a:solidFill>
            <a:srgbClr val="E8A3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9E541C7-EE06-497C-8957-1D05344F4CAA}"/>
              </a:ext>
            </a:extLst>
          </p:cNvPr>
          <p:cNvSpPr/>
          <p:nvPr/>
        </p:nvSpPr>
        <p:spPr>
          <a:xfrm>
            <a:off x="4572000" y="4362450"/>
            <a:ext cx="990600" cy="24765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9888083-783D-4C60-B40A-2101B96CF8A9}"/>
              </a:ext>
            </a:extLst>
          </p:cNvPr>
          <p:cNvSpPr txBox="1"/>
          <p:nvPr/>
        </p:nvSpPr>
        <p:spPr>
          <a:xfrm>
            <a:off x="685800" y="4686300"/>
            <a:ext cx="48768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STT 1,092 ms - MT 627 ms - </a:t>
            </a:r>
            <a:r>
              <a:rPr sz="1300" b="1">
                <a:solidFill>
                  <a:srgbClr val="B4790B"/>
                </a:solidFill>
                <a:latin typeface="Inter"/>
                <a:ea typeface="Inter"/>
              </a:rPr>
              <a:t>TTS render 11,199 ms</a:t>
            </a: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 - playback 3,307 ms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593E940-DA57-4033-95FF-52485CA84BFE}"/>
              </a:ext>
            </a:extLst>
          </p:cNvPr>
          <p:cNvSpPr txBox="1"/>
          <p:nvPr/>
        </p:nvSpPr>
        <p:spPr>
          <a:xfrm>
            <a:off x="685800" y="5200650"/>
            <a:ext cx="4876800" cy="5760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The flow-matching solve is 69% of the path. Sweeping steps, guidance and threads changed nothing.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A9CDD13-2580-4D57-ADB0-7D90A0221B1A}"/>
              </a:ext>
            </a:extLst>
          </p:cNvPr>
          <p:cNvSpPr txBox="1"/>
          <p:nvPr/>
        </p:nvSpPr>
        <p:spPr>
          <a:xfrm>
            <a:off x="457200" y="60388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i="1">
                <a:solidFill>
                  <a:srgbClr val="8A98A8"/>
                </a:solidFill>
                <a:latin typeface="Inter"/>
                <a:ea typeface="Inter"/>
              </a:rPr>
              <a:t>Android emulator, debug build, single run per figure. Cold model load adds 52.9 s.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C6D5171-1489-4A7D-80C5-CE8C832261F6}"/>
              </a:ext>
            </a:extLst>
          </p:cNvPr>
          <p:cNvSpPr txBox="1"/>
          <p:nvPr/>
        </p:nvSpPr>
        <p:spPr>
          <a:xfrm>
            <a:off x="6019800" y="112395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RISKS AND HOW WE CLOSE THEM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E85BB7F8-FF93-45FA-8C6F-5267DC56A065}"/>
              </a:ext>
            </a:extLst>
          </p:cNvPr>
          <p:cNvSpPr/>
          <p:nvPr/>
        </p:nvSpPr>
        <p:spPr>
          <a:xfrm>
            <a:off x="6019800" y="1428750"/>
            <a:ext cx="571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5428790-B156-4F5D-872A-7498378EDD59}"/>
              </a:ext>
            </a:extLst>
          </p:cNvPr>
          <p:cNvSpPr txBox="1"/>
          <p:nvPr/>
        </p:nvSpPr>
        <p:spPr>
          <a:xfrm>
            <a:off x="6248400" y="1562100"/>
            <a:ext cx="5257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TTS render dominates the end-to-end path.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EC19160-DBC6-4AD3-895C-4A4AA7B84359}"/>
              </a:ext>
            </a:extLst>
          </p:cNvPr>
          <p:cNvSpPr txBox="1"/>
          <p:nvPr/>
        </p:nvSpPr>
        <p:spPr>
          <a:xfrm>
            <a:off x="6248400" y="1828800"/>
            <a:ext cx="52578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8.5-11.2 s to make 2.2-3.1 s of audio; steps, prompt length and threads were swept and none moved it.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DF589AC-EFD2-467C-9F0A-BA98F9778333}"/>
              </a:ext>
            </a:extLst>
          </p:cNvPr>
          <p:cNvSpPr/>
          <p:nvPr/>
        </p:nvSpPr>
        <p:spPr>
          <a:xfrm>
            <a:off x="6019800" y="2495550"/>
            <a:ext cx="571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A147031-9B93-48F8-9761-5B4065874E8A}"/>
              </a:ext>
            </a:extLst>
          </p:cNvPr>
          <p:cNvSpPr txBox="1"/>
          <p:nvPr/>
        </p:nvSpPr>
        <p:spPr>
          <a:xfrm>
            <a:off x="6248400" y="2628900"/>
            <a:ext cx="5257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Speech recognition covers Hindi today.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9F54278-8FD9-475E-9463-C9E4B597E2F5}"/>
              </a:ext>
            </a:extLst>
          </p:cNvPr>
          <p:cNvSpPr txBox="1"/>
          <p:nvPr/>
        </p:nvSpPr>
        <p:spPr>
          <a:xfrm>
            <a:off x="6248400" y="2895600"/>
            <a:ext cx="52578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One IndicConformer export is bundled; the family ships per-language models, so this is an asset swap.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9214BE29-DFA4-42AD-A2CA-EB3D2FADF363}"/>
              </a:ext>
            </a:extLst>
          </p:cNvPr>
          <p:cNvSpPr/>
          <p:nvPr/>
        </p:nvSpPr>
        <p:spPr>
          <a:xfrm>
            <a:off x="6019800" y="3562350"/>
            <a:ext cx="571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E3A87B3-6A85-4CC7-BBDE-E16DC2E4B20F}"/>
              </a:ext>
            </a:extLst>
          </p:cNvPr>
          <p:cNvSpPr txBox="1"/>
          <p:nvPr/>
        </p:nvSpPr>
        <p:spPr>
          <a:xfrm>
            <a:off x="6248400" y="3695700"/>
            <a:ext cx="5257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The link is in-app loopback, not radio yet.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F2C0B86-708D-41BC-A3BB-9600F45D74EB}"/>
              </a:ext>
            </a:extLst>
          </p:cNvPr>
          <p:cNvSpPr txBox="1"/>
          <p:nvPr/>
        </p:nvSpPr>
        <p:spPr>
          <a:xfrm>
            <a:off x="6248400" y="3962400"/>
            <a:ext cx="52578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Every stage either side of the transport is built; RFCOMM pairing and a 90-byte text frame are what is left.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75026489-AD66-46AB-A5C9-214A5EE84473}"/>
              </a:ext>
            </a:extLst>
          </p:cNvPr>
          <p:cNvSpPr/>
          <p:nvPr/>
        </p:nvSpPr>
        <p:spPr>
          <a:xfrm>
            <a:off x="6019800" y="4629150"/>
            <a:ext cx="571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1CD1BC4A-7610-49F2-84F9-0FC0A93A8E6F}"/>
              </a:ext>
            </a:extLst>
          </p:cNvPr>
          <p:cNvSpPr txBox="1"/>
          <p:nvPr/>
        </p:nvSpPr>
        <p:spPr>
          <a:xfrm>
            <a:off x="6248400" y="4762500"/>
            <a:ext cx="5257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719 MB install, 858 MB of models.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9E563075-C3FA-4390-AB52-ADFEC5BCF9D0}"/>
              </a:ext>
            </a:extLst>
          </p:cNvPr>
          <p:cNvSpPr txBox="1"/>
          <p:nvPr/>
        </p:nvSpPr>
        <p:spPr>
          <a:xfrm>
            <a:off x="6248400" y="5029200"/>
            <a:ext cx="52578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Already inside the 800 MB ceiling without cutting quality; INT4 weights are the next reduction.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79A4AD64-F823-4A68-A0A7-5365FAF4DB45}"/>
              </a:ext>
            </a:extLst>
          </p:cNvPr>
          <p:cNvSpPr txBox="1"/>
          <p:nvPr/>
        </p:nvSpPr>
        <p:spPr>
          <a:xfrm>
            <a:off x="6019800" y="5772150"/>
            <a:ext cx="5715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Cost and deployment: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zero inference cost per message, no server estate, no API quota. One APK, installed once, works in airplane mode.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CCB3C609-9E90-4CD0-9144-26386F8B7B59}"/>
              </a:ext>
            </a:extLst>
          </p:cNvPr>
          <p:cNvSpPr txBox="1"/>
          <p:nvPr/>
        </p:nvSpPr>
        <p:spPr>
          <a:xfrm>
            <a:off x="6019800" y="6324600"/>
            <a:ext cx="5715000" cy="4937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i="1">
                <a:solidFill>
                  <a:srgbClr val="8A98A8"/>
                </a:solidFill>
                <a:latin typeface="Inter"/>
                <a:ea typeface="Inter"/>
              </a:rPr>
              <a:t>Voice identity: 7 of 19 reference clips pass the quality gates, so 7 languages borrow a donor voice; 11 screened replacements are 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6F14B65-F8DF-4AA5-92B7-3587853BF95D}"/>
              </a:ext>
            </a:extLst>
          </p:cNvPr>
          <p:cNvSpPr txBox="1"/>
          <p:nvPr/>
        </p:nvSpPr>
        <p:spPr>
          <a:xfrm>
            <a:off x="609600" y="3619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1B5FD9"/>
                </a:solidFill>
                <a:latin typeface="Inter"/>
                <a:ea typeface="Inter"/>
              </a:rPr>
              <a:t>IDEA TITLE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E5D884-5266-43D0-AAA6-D00145E37C42}"/>
              </a:ext>
            </a:extLst>
          </p:cNvPr>
          <p:cNvSpPr txBox="1"/>
          <p:nvPr/>
        </p:nvSpPr>
        <p:spPr>
          <a:xfrm>
            <a:off x="609600" y="552450"/>
            <a:ext cx="95250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4263A"/>
                </a:solidFill>
                <a:latin typeface="Inter"/>
                <a:ea typeface="Inter"/>
              </a:rPr>
              <a:t>Say it in Hindi. It arrives spoken in Marathi.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4B68652-B615-41F8-B87E-FF86A6878A03}"/>
              </a:ext>
            </a:extLst>
          </p:cNvPr>
          <p:cNvSpPr/>
          <p:nvPr/>
        </p:nvSpPr>
        <p:spPr>
          <a:xfrm>
            <a:off x="457200" y="1123950"/>
            <a:ext cx="112776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22890FB-2D4E-4BED-B2C0-321AA74299C5}"/>
              </a:ext>
            </a:extLst>
          </p:cNvPr>
          <p:cNvSpPr/>
          <p:nvPr/>
        </p:nvSpPr>
        <p:spPr>
          <a:xfrm>
            <a:off x="457200" y="1123950"/>
            <a:ext cx="57150" cy="1257300"/>
          </a:xfrm>
          <a:prstGeom prst="rect">
            <a:avLst/>
          </a:prstGeom>
          <a:solidFill>
            <a:srgbClr val="1B5F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9D47E2-2FEA-493B-A851-B88DC7FC9B02}"/>
              </a:ext>
            </a:extLst>
          </p:cNvPr>
          <p:cNvSpPr txBox="1"/>
          <p:nvPr/>
        </p:nvSpPr>
        <p:spPr>
          <a:xfrm>
            <a:off x="762000" y="1238250"/>
            <a:ext cx="1051560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4263A"/>
                </a:solidFill>
                <a:latin typeface="Inter"/>
                <a:ea typeface="Inter"/>
              </a:rPr>
              <a:t>VANI bundles speech recognition, neural translation and speech synthesis inside both phones. </a:t>
            </a:r>
            <a:r>
              <a:rPr sz="1500">
                <a:solidFill>
                  <a:srgbClr val="3C4E61"/>
                </a:solidFill>
                <a:latin typeface="Inter"/>
                <a:ea typeface="Inter"/>
              </a:rPr>
              <a:t>Only the recognised sentence crosses the link - about 90 bytes of text where the same utterance would cost roughly 91 KB of raw audio. The receiving phone rebuilds it as audible speech in the listener's own language.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AFD0034-C502-44A3-A2F4-7A10FD423D6D}"/>
              </a:ext>
            </a:extLst>
          </p:cNvPr>
          <p:cNvSpPr/>
          <p:nvPr/>
        </p:nvSpPr>
        <p:spPr>
          <a:xfrm>
            <a:off x="457200" y="2514600"/>
            <a:ext cx="5334000" cy="2628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E86F36-87C7-4F24-B539-EA4B5DEEE26F}"/>
              </a:ext>
            </a:extLst>
          </p:cNvPr>
          <p:cNvSpPr txBox="1"/>
          <p:nvPr/>
        </p:nvSpPr>
        <p:spPr>
          <a:xfrm>
            <a:off x="685800" y="2686050"/>
            <a:ext cx="4800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THE GAP THE PROBLEM STATEMENT NAMES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37D7A5B-E661-4FBE-BD12-96AB00F0DC6C}"/>
              </a:ext>
            </a:extLst>
          </p:cNvPr>
          <p:cNvSpPr txBox="1"/>
          <p:nvPr/>
        </p:nvSpPr>
        <p:spPr>
          <a:xfrm>
            <a:off x="685800" y="29718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Voice costs bandwidth.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16 kHz mono PCM is about 32 KB for every second of speech.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35018F-7472-4193-99B7-A690C179F8B8}"/>
              </a:ext>
            </a:extLst>
          </p:cNvPr>
          <p:cNvSpPr txBox="1"/>
          <p:nvPr/>
        </p:nvSpPr>
        <p:spPr>
          <a:xfrm>
            <a:off x="685800" y="36957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Text assumes literacy.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A typed message excludes the people voice is meant to reach.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C66D944-19B0-4C4C-8976-274EE7B1A419}"/>
              </a:ext>
            </a:extLst>
          </p:cNvPr>
          <p:cNvSpPr txBox="1"/>
          <p:nvPr/>
        </p:nvSpPr>
        <p:spPr>
          <a:xfrm>
            <a:off x="685800" y="44196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The two sides differ.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Caller and responder often share no written language at all.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A0F47AA-8232-46FA-A97C-8E457AF59078}"/>
              </a:ext>
            </a:extLst>
          </p:cNvPr>
          <p:cNvSpPr/>
          <p:nvPr/>
        </p:nvSpPr>
        <p:spPr>
          <a:xfrm>
            <a:off x="6400800" y="2514600"/>
            <a:ext cx="5334000" cy="2628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C0F1AD-6671-40F6-AFBA-163863A2A1C5}"/>
              </a:ext>
            </a:extLst>
          </p:cNvPr>
          <p:cNvSpPr txBox="1"/>
          <p:nvPr/>
        </p:nvSpPr>
        <p:spPr>
          <a:xfrm>
            <a:off x="6629400" y="2686050"/>
            <a:ext cx="4800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WHAT VANI DOES ABOUT IT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FB9FA1C-E9EB-410D-8123-488813141CF9}"/>
              </a:ext>
            </a:extLst>
          </p:cNvPr>
          <p:cNvSpPr txBox="1"/>
          <p:nvPr/>
        </p:nvSpPr>
        <p:spPr>
          <a:xfrm>
            <a:off x="6629400" y="29718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Tap and speak.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Hold the mic, release it, and the utterance is captured on the phone.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3EE891-C0F0-44F4-96C2-9698D8EFE194}"/>
              </a:ext>
            </a:extLst>
          </p:cNvPr>
          <p:cNvSpPr txBox="1"/>
          <p:nvPr/>
        </p:nvSpPr>
        <p:spPr>
          <a:xfrm>
            <a:off x="6629400" y="36957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Recognised and translated on-device.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IndicConformer, then IndicTrans2 - Hindi to Marathi, never through English.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9A0E375-A871-4DCF-A38C-5D4FB050DEF5}"/>
              </a:ext>
            </a:extLst>
          </p:cNvPr>
          <p:cNvSpPr txBox="1"/>
          <p:nvPr/>
        </p:nvSpPr>
        <p:spPr>
          <a:xfrm>
            <a:off x="6629400" y="4419600"/>
            <a:ext cx="48006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263A"/>
                </a:solidFill>
                <a:latin typeface="Inter"/>
                <a:ea typeface="Inter"/>
              </a:rPr>
              <a:t>Spoken on the far phone. </a:t>
            </a:r>
            <a:r>
              <a:rPr sz="1400">
                <a:solidFill>
                  <a:srgbClr val="5B6B7C"/>
                </a:solidFill>
                <a:latin typeface="Inter"/>
                <a:ea typeface="Inter"/>
              </a:rPr>
              <a:t>IndicF5 renders it as a replayable voice note in that language.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23F0F48-A380-4CFC-852E-FCB861355054}"/>
              </a:ext>
            </a:extLst>
          </p:cNvPr>
          <p:cNvSpPr/>
          <p:nvPr/>
        </p:nvSpPr>
        <p:spPr>
          <a:xfrm>
            <a:off x="457200" y="5276850"/>
            <a:ext cx="36576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024C635-E20C-4219-8A6D-EBF07FEF9535}"/>
              </a:ext>
            </a:extLst>
          </p:cNvPr>
          <p:cNvSpPr/>
          <p:nvPr/>
        </p:nvSpPr>
        <p:spPr>
          <a:xfrm>
            <a:off x="4267200" y="5276850"/>
            <a:ext cx="36576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5E7BFAE-BBD2-4274-87D2-2748E14C8857}"/>
              </a:ext>
            </a:extLst>
          </p:cNvPr>
          <p:cNvSpPr/>
          <p:nvPr/>
        </p:nvSpPr>
        <p:spPr>
          <a:xfrm>
            <a:off x="8077200" y="5276850"/>
            <a:ext cx="36576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9D3BCEF-C8DC-4013-894B-7C0BCF8F50F4}"/>
              </a:ext>
            </a:extLst>
          </p:cNvPr>
          <p:cNvSpPr txBox="1"/>
          <p:nvPr/>
        </p:nvSpPr>
        <p:spPr>
          <a:xfrm>
            <a:off x="685800" y="5429250"/>
            <a:ext cx="3276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8A317"/>
                </a:solidFill>
                <a:latin typeface="Inter"/>
                <a:ea typeface="Inter"/>
              </a:rPr>
              <a:t>NOVELTY 1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B1D4324-7E7E-4D00-B8C7-EBA9567FCDDD}"/>
              </a:ext>
            </a:extLst>
          </p:cNvPr>
          <p:cNvSpPr txBox="1"/>
          <p:nvPr/>
        </p:nvSpPr>
        <p:spPr>
          <a:xfrm>
            <a:off x="685800" y="5657850"/>
            <a:ext cx="3276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4263A"/>
                </a:solidFill>
                <a:latin typeface="Inter"/>
                <a:ea typeface="Inter"/>
              </a:rPr>
              <a:t>No cloud, no token, no cost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B7B59FE-0895-4706-B344-9455E10EC20B}"/>
              </a:ext>
            </a:extLst>
          </p:cNvPr>
          <p:cNvSpPr txBox="1"/>
          <p:nvPr/>
        </p:nvSpPr>
        <p:spPr>
          <a:xfrm>
            <a:off x="685800" y="5962650"/>
            <a:ext cx="32766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Every stage runs in-process. No network call; works in airplane mode.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2AE3D1F-EEF3-406D-8F4C-851EF5561329}"/>
              </a:ext>
            </a:extLst>
          </p:cNvPr>
          <p:cNvSpPr txBox="1"/>
          <p:nvPr/>
        </p:nvSpPr>
        <p:spPr>
          <a:xfrm>
            <a:off x="4495800" y="5429250"/>
            <a:ext cx="3276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8A317"/>
                </a:solidFill>
                <a:latin typeface="Inter"/>
                <a:ea typeface="Inter"/>
              </a:rPr>
              <a:t>NOVELTY 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F1CED0C-A2C9-4152-BA4A-16570528E22C}"/>
              </a:ext>
            </a:extLst>
          </p:cNvPr>
          <p:cNvSpPr txBox="1"/>
          <p:nvPr/>
        </p:nvSpPr>
        <p:spPr>
          <a:xfrm>
            <a:off x="4495800" y="5657850"/>
            <a:ext cx="3276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4263A"/>
                </a:solidFill>
                <a:latin typeface="Inter"/>
                <a:ea typeface="Inter"/>
              </a:rPr>
              <a:t>Indic to Indic, no English pivot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24A358C-AE6A-4A3B-93B5-1CEE32DCDF2F}"/>
              </a:ext>
            </a:extLst>
          </p:cNvPr>
          <p:cNvSpPr txBox="1"/>
          <p:nvPr/>
        </p:nvSpPr>
        <p:spPr>
          <a:xfrm>
            <a:off x="4495800" y="5962650"/>
            <a:ext cx="32766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Most Indian stacks route through English and lose the idiom.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7A62032-991A-42D7-9A38-F36041D658AA}"/>
              </a:ext>
            </a:extLst>
          </p:cNvPr>
          <p:cNvSpPr txBox="1"/>
          <p:nvPr/>
        </p:nvSpPr>
        <p:spPr>
          <a:xfrm>
            <a:off x="8305800" y="5429250"/>
            <a:ext cx="3276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8A317"/>
                </a:solidFill>
                <a:latin typeface="Inter"/>
                <a:ea typeface="Inter"/>
              </a:rPr>
              <a:t>NOVELTY 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B934204-44BE-4A5E-815B-E811F6C442D2}"/>
              </a:ext>
            </a:extLst>
          </p:cNvPr>
          <p:cNvSpPr txBox="1"/>
          <p:nvPr/>
        </p:nvSpPr>
        <p:spPr>
          <a:xfrm>
            <a:off x="8305800" y="5657850"/>
            <a:ext cx="3276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4263A"/>
                </a:solidFill>
                <a:latin typeface="Inter"/>
                <a:ea typeface="Inter"/>
              </a:rPr>
              <a:t>A different voice per language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2F06260-2CB0-476B-87E1-7884D101B009}"/>
              </a:ext>
            </a:extLst>
          </p:cNvPr>
          <p:cNvSpPr txBox="1"/>
          <p:nvPr/>
        </p:nvSpPr>
        <p:spPr>
          <a:xfrm>
            <a:off x="8305800" y="5962650"/>
            <a:ext cx="32766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IndicF5 is zero-shot prompted, so Marathi is not read in a Hindi voice.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56A6743-0000-4004-B471-3E6AB2F53D8A}"/>
              </a:ext>
            </a:extLst>
          </p:cNvPr>
          <p:cNvSpPr txBox="1"/>
          <p:nvPr/>
        </p:nvSpPr>
        <p:spPr>
          <a:xfrm>
            <a:off x="609600" y="3619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1B5FD9"/>
                </a:solidFill>
                <a:latin typeface="Inter"/>
                <a:ea typeface="Inter"/>
              </a:rPr>
              <a:t>RESEARCH AND REFERENCES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C41DD1B-4142-46C5-83EA-D51D465779B0}"/>
              </a:ext>
            </a:extLst>
          </p:cNvPr>
          <p:cNvSpPr txBox="1"/>
          <p:nvPr/>
        </p:nvSpPr>
        <p:spPr>
          <a:xfrm>
            <a:off x="609600" y="552450"/>
            <a:ext cx="104775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4263A"/>
                </a:solidFill>
                <a:latin typeface="Inter"/>
                <a:ea typeface="Inter"/>
              </a:rPr>
              <a:t>What we built on, and what we measured ourselves.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FB376B3-AEC7-404E-BC5A-0B78EB9170C0}"/>
              </a:ext>
            </a:extLst>
          </p:cNvPr>
          <p:cNvSpPr/>
          <p:nvPr/>
        </p:nvSpPr>
        <p:spPr>
          <a:xfrm>
            <a:off x="457200" y="1181100"/>
            <a:ext cx="55245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986F1FD-EE52-4E2F-9E23-A851BE97B70A}"/>
              </a:ext>
            </a:extLst>
          </p:cNvPr>
          <p:cNvSpPr txBox="1"/>
          <p:nvPr/>
        </p:nvSpPr>
        <p:spPr>
          <a:xfrm>
            <a:off x="685800" y="135255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BUNDLED MODELS - RUN INSIDE THE APK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4FB03EA-4D00-424D-ADBF-88356863BFF0}"/>
              </a:ext>
            </a:extLst>
          </p:cNvPr>
          <p:cNvSpPr txBox="1"/>
          <p:nvPr/>
        </p:nvSpPr>
        <p:spPr>
          <a:xfrm>
            <a:off x="685800" y="1638300"/>
            <a:ext cx="5067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ai4bharat/indicconformer_stt_hi_hybrid_ctc_rnnt_large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7EC394-B7C8-496C-B5BD-50EBDDA2A9FF}"/>
              </a:ext>
            </a:extLst>
          </p:cNvPr>
          <p:cNvSpPr txBox="1"/>
          <p:nvPr/>
        </p:nvSpPr>
        <p:spPr>
          <a:xfrm>
            <a:off x="685800" y="186690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Speech recognition. CTC branch, INT8 ONNX export, 137.3 MB.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8CDB35-F996-493A-B458-50D12801A0A7}"/>
              </a:ext>
            </a:extLst>
          </p:cNvPr>
          <p:cNvSpPr txBox="1"/>
          <p:nvPr/>
        </p:nvSpPr>
        <p:spPr>
          <a:xfrm>
            <a:off x="685800" y="2152650"/>
            <a:ext cx="5067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ai4bharat/indictrans2-indic-indic-dist-320M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CCFE8EA-0AFE-4A50-BEED-04FA7145E641}"/>
              </a:ext>
            </a:extLst>
          </p:cNvPr>
          <p:cNvSpPr txBox="1"/>
          <p:nvPr/>
        </p:nvSpPr>
        <p:spPr>
          <a:xfrm>
            <a:off x="685800" y="238125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Machine translation, Indic to Indic, no English pivot. 528.5 MB.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A358C16-9976-49DF-88C2-1A238F95405B}"/>
              </a:ext>
            </a:extLst>
          </p:cNvPr>
          <p:cNvSpPr txBox="1"/>
          <p:nvPr/>
        </p:nvSpPr>
        <p:spPr>
          <a:xfrm>
            <a:off x="685800" y="2667000"/>
            <a:ext cx="5067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ai4bharat/IndicF5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56C5E71-7AB8-438A-B19A-A811D72463A6}"/>
              </a:ext>
            </a:extLst>
          </p:cNvPr>
          <p:cNvSpPr txBox="1"/>
          <p:nvPr/>
        </p:nvSpPr>
        <p:spPr>
          <a:xfrm>
            <a:off x="685800" y="289560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Zero-shot flow-matching synthesis, 8 Euler steps, CFG 2.0. 185.3 MB.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F8BD186-C924-40E9-B7F3-D4D1F33764C3}"/>
              </a:ext>
            </a:extLst>
          </p:cNvPr>
          <p:cNvSpPr/>
          <p:nvPr/>
        </p:nvSpPr>
        <p:spPr>
          <a:xfrm>
            <a:off x="6210300" y="1181100"/>
            <a:ext cx="55245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1E30FB-FD64-422E-B1D6-1FF99377C7D3}"/>
              </a:ext>
            </a:extLst>
          </p:cNvPr>
          <p:cNvSpPr txBox="1"/>
          <p:nvPr/>
        </p:nvSpPr>
        <p:spPr>
          <a:xfrm>
            <a:off x="6438900" y="135255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PEER-REVIEWED BASIS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C502B8-D8F3-461C-B1EE-D07A7484B3CB}"/>
              </a:ext>
            </a:extLst>
          </p:cNvPr>
          <p:cNvSpPr txBox="1"/>
          <p:nvPr/>
        </p:nvSpPr>
        <p:spPr>
          <a:xfrm>
            <a:off x="6438900" y="163830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5FD9"/>
                </a:solidFill>
                <a:latin typeface="Inter"/>
                <a:ea typeface="Inter"/>
              </a:rPr>
              <a:t>arXiv:2305.16307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8006FD-56A7-44DA-8B52-F57F78A831E9}"/>
              </a:ext>
            </a:extLst>
          </p:cNvPr>
          <p:cNvSpPr txBox="1"/>
          <p:nvPr/>
        </p:nvSpPr>
        <p:spPr>
          <a:xfrm>
            <a:off x="6438900" y="1847850"/>
            <a:ext cx="50673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IndicTrans2: Towards High-Quality and Accessible Machine Translation Models for all 22 Scheduled Indian Languages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961E7F3-6107-4562-A69E-3F95DE639188}"/>
              </a:ext>
            </a:extLst>
          </p:cNvPr>
          <p:cNvSpPr txBox="1"/>
          <p:nvPr/>
        </p:nvSpPr>
        <p:spPr>
          <a:xfrm>
            <a:off x="6438900" y="255270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B5FD9"/>
                </a:solidFill>
                <a:latin typeface="Inter"/>
                <a:ea typeface="Inter"/>
              </a:rPr>
              <a:t>arXiv:2409.05356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D6521F1-6B53-4407-A873-81C8EC1F7D52}"/>
              </a:ext>
            </a:extLst>
          </p:cNvPr>
          <p:cNvSpPr txBox="1"/>
          <p:nvPr/>
        </p:nvSpPr>
        <p:spPr>
          <a:xfrm>
            <a:off x="6438900" y="2762250"/>
            <a:ext cx="50673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IndicVoices-R: Unlocking a Massive Multilingual Multi-speaker Speech Corpus for Scaling Indian Speech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20A28E8-96DE-4D37-A942-2BB3C658433B}"/>
              </a:ext>
            </a:extLst>
          </p:cNvPr>
          <p:cNvSpPr/>
          <p:nvPr/>
        </p:nvSpPr>
        <p:spPr>
          <a:xfrm>
            <a:off x="457200" y="3543300"/>
            <a:ext cx="552450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90FCE89-8C91-4DED-9CC6-BDBBFF8C6D95}"/>
              </a:ext>
            </a:extLst>
          </p:cNvPr>
          <p:cNvSpPr txBox="1"/>
          <p:nvPr/>
        </p:nvSpPr>
        <p:spPr>
          <a:xfrm>
            <a:off x="685800" y="371475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DATA AND LICENCE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3E62FCC-A90B-408A-923F-298CB416037D}"/>
              </a:ext>
            </a:extLst>
          </p:cNvPr>
          <p:cNvSpPr txBox="1"/>
          <p:nvPr/>
        </p:nvSpPr>
        <p:spPr>
          <a:xfrm>
            <a:off x="685800" y="4000500"/>
            <a:ext cx="5067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ai4bharat/Kathbath - CC-BY-4.0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CFE1D34-5379-40C2-A8BE-45B1AE2D978A}"/>
              </a:ext>
            </a:extLst>
          </p:cNvPr>
          <p:cNvSpPr txBox="1"/>
          <p:nvPr/>
        </p:nvSpPr>
        <p:spPr>
          <a:xfrm>
            <a:off x="685800" y="4248150"/>
            <a:ext cx="5067300" cy="80238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Source of the 22 reference voice clips shipped in the app, and of the 40-clip Hindi set the word error rate is scored on. Each clip's exact transcript is bundled beside it and used verbatim.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2E85772-10C3-476B-A730-02C67AFAE19D}"/>
              </a:ext>
            </a:extLst>
          </p:cNvPr>
          <p:cNvSpPr txBox="1"/>
          <p:nvPr/>
        </p:nvSpPr>
        <p:spPr>
          <a:xfrm>
            <a:off x="685800" y="5029200"/>
            <a:ext cx="50673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 i="1">
                <a:solidFill>
                  <a:srgbClr val="8A98A8"/>
                </a:solidFill>
                <a:latin typeface="Inter"/>
                <a:ea typeface="Inter"/>
              </a:rPr>
              <a:t>Clips are screened by measured pitch, internal-pause fraction and token density before shipping.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BD1B76BF-7143-48EA-983F-97DC71B552F3}"/>
              </a:ext>
            </a:extLst>
          </p:cNvPr>
          <p:cNvSpPr/>
          <p:nvPr/>
        </p:nvSpPr>
        <p:spPr>
          <a:xfrm>
            <a:off x="6210300" y="3543300"/>
            <a:ext cx="552450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852BB3F-48E4-4523-90A8-AD2F55644F13}"/>
              </a:ext>
            </a:extLst>
          </p:cNvPr>
          <p:cNvSpPr txBox="1"/>
          <p:nvPr/>
        </p:nvSpPr>
        <p:spPr>
          <a:xfrm>
            <a:off x="6438900" y="3714750"/>
            <a:ext cx="5067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B5FD9"/>
                </a:solidFill>
                <a:latin typeface="Inter"/>
                <a:ea typeface="Inter"/>
              </a:rPr>
              <a:t>RUNTIME AND TOOLING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D5EAE2D-4A2F-4289-B5AD-123C71648AA7}"/>
              </a:ext>
            </a:extLst>
          </p:cNvPr>
          <p:cNvSpPr txBox="1"/>
          <p:nvPr/>
        </p:nvSpPr>
        <p:spPr>
          <a:xfrm>
            <a:off x="6438900" y="4000500"/>
            <a:ext cx="50673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Microsoft ONNX Runtime 1.22.0 </a:t>
            </a: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(onnxruntime-android), CPU execution provider. No NNAPI or GPU delegate is used.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0185AF3-8005-43F5-BA35-153BCEC3567F}"/>
              </a:ext>
            </a:extLst>
          </p:cNvPr>
          <p:cNvSpPr txBox="1"/>
          <p:nvPr/>
        </p:nvSpPr>
        <p:spPr>
          <a:xfrm>
            <a:off x="6438900" y="4533900"/>
            <a:ext cx="50673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Kotlin 1.8.22, Jetpack Compose Material3, AGP 7.4.2. </a:t>
            </a: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minSdk 26, target 34, arm64-v8a and x86_64.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5CB1A51-42B8-455D-843E-146AF42F6A01}"/>
              </a:ext>
            </a:extLst>
          </p:cNvPr>
          <p:cNvSpPr txBox="1"/>
          <p:nvPr/>
        </p:nvSpPr>
        <p:spPr>
          <a:xfrm>
            <a:off x="6438900" y="5067300"/>
            <a:ext cx="50673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4263A"/>
                </a:solidFill>
                <a:latin typeface="Inter"/>
                <a:ea typeface="Inter"/>
              </a:rPr>
              <a:t>models.ai4bharat.org </a:t>
            </a:r>
            <a:r>
              <a:rPr sz="1300">
                <a:solidFill>
                  <a:srgbClr val="5B6B7C"/>
                </a:solidFill>
                <a:latin typeface="Inter"/>
                <a:ea typeface="Inter"/>
              </a:rPr>
              <a:t>- model cards for all three bundled networks.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C751252F-72DA-441B-B9F2-421EB60DD75B}"/>
              </a:ext>
            </a:extLst>
          </p:cNvPr>
          <p:cNvSpPr/>
          <p:nvPr/>
        </p:nvSpPr>
        <p:spPr>
          <a:xfrm>
            <a:off x="457200" y="5867400"/>
            <a:ext cx="11277600" cy="704850"/>
          </a:xfrm>
          <a:prstGeom prst="roundRect">
            <a:avLst/>
          </a:prstGeom>
          <a:solidFill>
            <a:srgbClr val="0B1B2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D7C635D-0D21-47FF-A93E-AD3BBA7E3E41}"/>
              </a:ext>
            </a:extLst>
          </p:cNvPr>
          <p:cNvSpPr txBox="1"/>
          <p:nvPr/>
        </p:nvSpPr>
        <p:spPr>
          <a:xfrm>
            <a:off x="685800" y="6000750"/>
            <a:ext cx="10668000" cy="5349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8A317"/>
                </a:solidFill>
                <a:latin typeface="Inter"/>
                <a:ea typeface="Inter"/>
              </a:rPr>
              <a:t>Measured by this team, not cited: </a:t>
            </a:r>
            <a:r>
              <a:rPr sz="1300">
                <a:solidFill>
                  <a:srgbClr val="C3D2E1"/>
                </a:solidFill>
                <a:latin typeface="Inter"/>
                <a:ea typeface="Inter"/>
              </a:rPr>
              <a:t>word and character error rate over 40 Kathbath Hindi clips scored with normalised Levenshtein; per-stage latency from on-device logs; and the Euler-step, guidance and thread sweeps behind the feasibility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